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A2C9FE-CD63-4011-9CFC-534198C7E97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CECEE7D-1D2B-4234-9783-742E59A006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00200"/>
            <a:ext cx="7772400" cy="220979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Intermediate CPU and Data </a:t>
            </a:r>
            <a:r>
              <a:rPr lang="en-US" sz="3600" dirty="0"/>
              <a:t>F</a:t>
            </a:r>
            <a:r>
              <a:rPr lang="en-US" sz="3600" dirty="0" smtClean="0"/>
              <a:t>low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09335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5259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Talha Zeeshan</a:t>
            </a:r>
          </a:p>
          <a:p>
            <a:r>
              <a:rPr lang="en-US" sz="3600" dirty="0" smtClean="0"/>
              <a:t>Muhammad Bilal</a:t>
            </a:r>
          </a:p>
          <a:p>
            <a:r>
              <a:rPr lang="en-US" sz="3600" dirty="0" smtClean="0"/>
              <a:t>Sarmad Saeed</a:t>
            </a:r>
          </a:p>
          <a:p>
            <a:r>
              <a:rPr lang="en-US" sz="3600" dirty="0" smtClean="0"/>
              <a:t>Ahmad Nawaz</a:t>
            </a:r>
            <a:endParaRPr lang="en-US" sz="3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609600"/>
            <a:ext cx="8229600" cy="1143000"/>
          </a:xfrm>
        </p:spPr>
        <p:txBody>
          <a:bodyPr/>
          <a:lstStyle/>
          <a:p>
            <a:r>
              <a:rPr lang="en-US" sz="4800" dirty="0" smtClean="0"/>
              <a:t>Group members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41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Key Components in CPU Data Flow</a:t>
            </a:r>
          </a:p>
          <a:p>
            <a:r>
              <a:rPr lang="en-US" b="1" dirty="0"/>
              <a:t>Registers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Small, fast storage units inside the CPU (like R0, R1, Accumulator, etc.).</a:t>
            </a:r>
          </a:p>
          <a:p>
            <a:pPr lvl="1"/>
            <a:r>
              <a:rPr lang="en-US" dirty="0"/>
              <a:t>Data moves between registers during calculations.</a:t>
            </a:r>
          </a:p>
          <a:p>
            <a:r>
              <a:rPr lang="en-US" b="1" dirty="0"/>
              <a:t>ALU (Arithmetic Logic Unit)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Executes math operations (+, -, *, /) and logic operations (AND, OR, NOT, etc.).</a:t>
            </a:r>
          </a:p>
          <a:p>
            <a:r>
              <a:rPr lang="en-US" b="1" dirty="0"/>
              <a:t>Control Unit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Directs traffic inside the CPU — tells the ALU, registers, and memory what to do.</a:t>
            </a:r>
          </a:p>
          <a:p>
            <a:r>
              <a:rPr lang="en-US" b="1" dirty="0"/>
              <a:t>Buses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Data Bus: moves actual data (like numbers).</a:t>
            </a:r>
          </a:p>
          <a:p>
            <a:pPr lvl="1"/>
            <a:r>
              <a:rPr lang="en-US" dirty="0"/>
              <a:t>Address Bus: moves memory addresses.</a:t>
            </a:r>
          </a:p>
          <a:p>
            <a:pPr lvl="1"/>
            <a:r>
              <a:rPr lang="en-US" dirty="0"/>
              <a:t>Control Bus: moves control signals (read/write commands).</a:t>
            </a:r>
          </a:p>
          <a:p>
            <a:r>
              <a:rPr lang="en-US" b="1" dirty="0"/>
              <a:t>Cache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Super-fast memory inside the CPU to store frequently used data.</a:t>
            </a:r>
          </a:p>
          <a:p>
            <a:pPr lvl="1"/>
            <a:r>
              <a:rPr lang="en-US" dirty="0"/>
              <a:t>Reduces time needed to fetch data from the slower main memory.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Intermediate CPU and Data Flow: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1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410200"/>
          </a:xfrm>
        </p:spPr>
        <p:txBody>
          <a:bodyPr>
            <a:normAutofit fontScale="70000" lnSpcReduction="20000"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b="1" dirty="0"/>
              <a:t>Fetch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CPU </a:t>
            </a:r>
            <a:r>
              <a:rPr lang="en-US" b="1" dirty="0"/>
              <a:t>fetches</a:t>
            </a:r>
            <a:r>
              <a:rPr lang="en-US" dirty="0"/>
              <a:t> an instruction from </a:t>
            </a:r>
            <a:r>
              <a:rPr lang="en-US" b="1" dirty="0"/>
              <a:t>memory (RAM)</a:t>
            </a:r>
            <a:r>
              <a:rPr lang="en-US" dirty="0"/>
              <a:t> using the </a:t>
            </a:r>
            <a:r>
              <a:rPr lang="en-US" b="1" dirty="0"/>
              <a:t>Program Counter (PC)</a:t>
            </a:r>
            <a:r>
              <a:rPr lang="en-US" dirty="0"/>
              <a:t>, which points to the address of the next instruction.</a:t>
            </a:r>
          </a:p>
          <a:p>
            <a:pPr lvl="1"/>
            <a:r>
              <a:rPr lang="en-US" dirty="0"/>
              <a:t>The instruction gets loaded into the </a:t>
            </a:r>
            <a:r>
              <a:rPr lang="en-US" b="1" dirty="0"/>
              <a:t>Instruction Register (IR)</a:t>
            </a:r>
            <a:r>
              <a:rPr lang="en-US" dirty="0"/>
              <a:t>.</a:t>
            </a:r>
          </a:p>
          <a:p>
            <a:r>
              <a:rPr lang="en-US" b="1" dirty="0"/>
              <a:t>Decode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Control Unit (CU)</a:t>
            </a:r>
            <a:r>
              <a:rPr lang="en-US" dirty="0"/>
              <a:t> decodes the instruction to figure out </a:t>
            </a:r>
            <a:r>
              <a:rPr lang="en-US" b="1" dirty="0"/>
              <a:t>what operation</a:t>
            </a:r>
            <a:r>
              <a:rPr lang="en-US" dirty="0"/>
              <a:t> needs to happen.</a:t>
            </a:r>
          </a:p>
          <a:p>
            <a:pPr lvl="1"/>
            <a:r>
              <a:rPr lang="en-US" dirty="0"/>
              <a:t>It sets up signals that control other parts of the CPU.</a:t>
            </a:r>
          </a:p>
          <a:p>
            <a:r>
              <a:rPr lang="en-US" b="1" dirty="0"/>
              <a:t>Execute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instruction is carried out.</a:t>
            </a:r>
          </a:p>
          <a:p>
            <a:pPr lvl="1"/>
            <a:r>
              <a:rPr lang="en-US" dirty="0"/>
              <a:t>This could mean performing an </a:t>
            </a:r>
            <a:r>
              <a:rPr lang="en-US" b="1" dirty="0"/>
              <a:t>ALU operation</a:t>
            </a:r>
            <a:r>
              <a:rPr lang="en-US" dirty="0"/>
              <a:t> (Arithmetic Logic Unit, like addition), </a:t>
            </a:r>
            <a:r>
              <a:rPr lang="en-US" b="1" dirty="0"/>
              <a:t>moving data</a:t>
            </a:r>
            <a:r>
              <a:rPr lang="en-US" dirty="0"/>
              <a:t>, or </a:t>
            </a:r>
            <a:r>
              <a:rPr lang="en-US" b="1" dirty="0"/>
              <a:t>changing the PC</a:t>
            </a:r>
            <a:r>
              <a:rPr lang="en-US" dirty="0"/>
              <a:t> (like jumping to a new instruction).</a:t>
            </a:r>
          </a:p>
          <a:p>
            <a:r>
              <a:rPr lang="en-US" b="1" dirty="0"/>
              <a:t>Memory Access</a:t>
            </a:r>
            <a:r>
              <a:rPr lang="en-US" dirty="0"/>
              <a:t> (sometimes):</a:t>
            </a:r>
          </a:p>
          <a:p>
            <a:pPr lvl="1"/>
            <a:r>
              <a:rPr lang="en-US" dirty="0"/>
              <a:t>If the instruction involves reading from or writing to memory, the </a:t>
            </a:r>
            <a:r>
              <a:rPr lang="en-US" b="1" dirty="0"/>
              <a:t>Memory Management Unit (MMU)</a:t>
            </a:r>
            <a:r>
              <a:rPr lang="en-US" dirty="0"/>
              <a:t> and </a:t>
            </a:r>
            <a:r>
              <a:rPr lang="en-US" b="1" dirty="0"/>
              <a:t>cache system</a:t>
            </a:r>
            <a:r>
              <a:rPr lang="en-US" dirty="0"/>
              <a:t> help transfer data efficiently.</a:t>
            </a:r>
          </a:p>
          <a:p>
            <a:r>
              <a:rPr lang="en-US" b="1" dirty="0"/>
              <a:t>Write Back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result (say from an ALU calculation) gets written back to a register or memory.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dirty="0"/>
              <a:t>CPU Data Flow (Intermediate Level</a:t>
            </a:r>
            <a:r>
              <a:rPr lang="en-US" dirty="0" smtClean="0"/>
              <a:t>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39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Memory </a:t>
            </a:r>
            <a:r>
              <a:rPr lang="en-US" dirty="0"/>
              <a:t>address translation is the process of mapping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a virtual address  (used by a program to access memory.)→ to a physical address(real location </a:t>
            </a:r>
          </a:p>
          <a:p>
            <a:r>
              <a:rPr lang="en-US" dirty="0"/>
              <a:t>in RAM) </a:t>
            </a:r>
          </a:p>
          <a:p>
            <a:r>
              <a:rPr lang="en-US" dirty="0"/>
              <a:t>so the CPU can access data correctly.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 address </a:t>
            </a:r>
            <a:r>
              <a:rPr lang="en-US" dirty="0" smtClean="0"/>
              <a:t>translation: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0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563520"/>
              </p:ext>
            </p:extLst>
          </p:nvPr>
        </p:nvGraphicFramePr>
        <p:xfrm>
          <a:off x="381000" y="838200"/>
          <a:ext cx="8229600" cy="56121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Step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Action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Example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Program uses Virtual Address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Program asks for data using a virtual address.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 program wants to get data from virtual address 0x10.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CPU sends Virtual Address to MMU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CPU sends the virtual address to the Memory Management Unit (MMU) to translate it.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CPU sends 0x10 to the MMU.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MMU splits Address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MMU splits the virtual address into a Page Number and Offset.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0x10 → Page Number = 1, Offset = 16. (Page size = 32 bytes)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MMU checks Page Table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The MMU checks the Page Table to see where the virtual page is stored in physical memory.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Page Table says: Virtual Page 1 → Physical Frame 3.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MMU calculates Physical Address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MMU calculates the exact physical address using the frame number and offset.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(3 × 32) + 16 = 112 (physical address).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CPU accesses Physical Memory (RAM)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CPU reads or writes the data at the physical address.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CPU reads data from RAM at address 112.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228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How it Works (with Example)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6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/>
              <a:t>RTL</a:t>
            </a:r>
            <a:r>
              <a:rPr lang="en-US" dirty="0"/>
              <a:t> describes </a:t>
            </a:r>
            <a:r>
              <a:rPr lang="en-US" b="1" dirty="0"/>
              <a:t>how data moves (transfers)</a:t>
            </a:r>
            <a:r>
              <a:rPr lang="en-US" dirty="0"/>
              <a:t> between </a:t>
            </a:r>
            <a:r>
              <a:rPr lang="en-US" b="1" dirty="0"/>
              <a:t>registers</a:t>
            </a:r>
            <a:r>
              <a:rPr lang="en-US" dirty="0"/>
              <a:t> and </a:t>
            </a:r>
            <a:r>
              <a:rPr lang="en-US" b="1" dirty="0"/>
              <a:t>what operations</a:t>
            </a:r>
            <a:r>
              <a:rPr lang="en-US" dirty="0"/>
              <a:t> happen to that data inside a CPU, at a very low level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b="1" dirty="0"/>
              <a:t>Key Concepts in RTL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Registers</a:t>
            </a:r>
            <a:r>
              <a:rPr lang="en-US" dirty="0"/>
              <a:t>: Small storage inside CPU (R1, R2, MAR, PC, etc.)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Micro-operations</a:t>
            </a:r>
            <a:r>
              <a:rPr lang="en-US" dirty="0"/>
              <a:t>: Tiny operations like moving data, adding numbers, incrementing counters.</a:t>
            </a:r>
          </a:p>
          <a:p>
            <a:pPr>
              <a:buFont typeface="Arial" pitchFamily="34" charset="0"/>
              <a:buChar char="•"/>
            </a:pPr>
            <a:r>
              <a:rPr lang="en-US" b="1" dirty="0"/>
              <a:t>Control Signals</a:t>
            </a:r>
            <a:r>
              <a:rPr lang="en-US" dirty="0"/>
              <a:t>: Tell the hardware when to do a transfer or operation.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Register </a:t>
            </a:r>
            <a:r>
              <a:rPr lang="en-US" dirty="0"/>
              <a:t>Transfer Language (RTL</a:t>
            </a:r>
            <a:r>
              <a:rPr lang="en-US" dirty="0" smtClean="0"/>
              <a:t>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1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PC</a:t>
            </a:r>
            <a:r>
              <a:rPr lang="en-US" dirty="0"/>
              <a:t>: Program Counter (points to next instruction)</a:t>
            </a:r>
          </a:p>
          <a:p>
            <a:r>
              <a:rPr lang="en-US" b="1" dirty="0"/>
              <a:t>IR</a:t>
            </a:r>
            <a:r>
              <a:rPr lang="en-US" dirty="0"/>
              <a:t>: Instruction Register (holds current instruction)</a:t>
            </a:r>
          </a:p>
          <a:p>
            <a:r>
              <a:rPr lang="en-US" b="1" dirty="0"/>
              <a:t>MAR</a:t>
            </a:r>
            <a:r>
              <a:rPr lang="en-US" dirty="0"/>
              <a:t>: Memory Address Register (holds address for memory access)</a:t>
            </a:r>
          </a:p>
          <a:p>
            <a:r>
              <a:rPr lang="en-US" b="1" dirty="0"/>
              <a:t>MDR</a:t>
            </a:r>
            <a:r>
              <a:rPr lang="en-US" dirty="0"/>
              <a:t>: Memory Data Register (holds data read/written from/to memory)</a:t>
            </a:r>
          </a:p>
          <a:p>
            <a:r>
              <a:rPr lang="en-US" b="1" dirty="0"/>
              <a:t>ACC</a:t>
            </a:r>
            <a:r>
              <a:rPr lang="en-US" dirty="0"/>
              <a:t>: Accumulator (used for intermediate ALU results)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Common Special </a:t>
            </a:r>
            <a:r>
              <a:rPr lang="en-US" dirty="0" smtClean="0"/>
              <a:t>Registers: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6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93920"/>
              </p:ext>
            </p:extLst>
          </p:nvPr>
        </p:nvGraphicFramePr>
        <p:xfrm>
          <a:off x="457200" y="533400"/>
          <a:ext cx="8229600" cy="5410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746235"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effectLst/>
                        </a:rPr>
                        <a:t>RTL Notation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dirty="0">
                          <a:effectLst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623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R3 ← R1 + 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Add R1 and R2, store result in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0591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PC ← PC + 1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Increment the Program Counter (next instruction)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0591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MDR ← Memory[MAR]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Load data from memory address MAR into MDR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0591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Memory[MAR] ← MDR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Store data from MDR into memory at address MAR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23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/>
              <a:t>In pipelined </a:t>
            </a:r>
            <a:r>
              <a:rPr lang="en-US" sz="2400" dirty="0"/>
              <a:t>processors, a data hazard occurs when an instruction depends on the result of a previous instruction that has not yet completed its path through the pipeline.It leads to incorrect or delayed data being used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There </a:t>
            </a:r>
            <a:r>
              <a:rPr lang="en-US" dirty="0"/>
              <a:t>are 3 main types</a:t>
            </a:r>
            <a:r>
              <a:rPr lang="en-US" dirty="0" smtClean="0"/>
              <a:t>:</a:t>
            </a:r>
          </a:p>
          <a:p>
            <a:pPr marL="109728" indent="0">
              <a:buNone/>
            </a:pPr>
            <a:r>
              <a:rPr lang="en-US" sz="2400" dirty="0" smtClean="0"/>
              <a:t>1</a:t>
            </a:r>
            <a:r>
              <a:rPr lang="en-US" sz="2400" dirty="0"/>
              <a:t>. RAW (Read After Write):Instruction needs a value that hasn't been written yet. (Most common</a:t>
            </a:r>
            <a:r>
              <a:rPr lang="en-US" sz="2400" dirty="0" smtClean="0"/>
              <a:t>)</a:t>
            </a:r>
          </a:p>
          <a:p>
            <a:pPr marL="109728" indent="0">
              <a:buNone/>
            </a:pPr>
            <a:r>
              <a:rPr lang="en-US" sz="2400" dirty="0" smtClean="0"/>
              <a:t>2</a:t>
            </a:r>
            <a:r>
              <a:rPr lang="en-US" sz="2400" dirty="0"/>
              <a:t>. WAR (Write After Read):A later instruction writes before an earlier one reads</a:t>
            </a:r>
            <a:r>
              <a:rPr lang="en-US" sz="2400" dirty="0" smtClean="0"/>
              <a:t>.</a:t>
            </a:r>
          </a:p>
          <a:p>
            <a:pPr marL="109728" indent="0">
              <a:buNone/>
            </a:pPr>
            <a:r>
              <a:rPr lang="en-US" sz="2400" dirty="0" smtClean="0"/>
              <a:t>3</a:t>
            </a:r>
            <a:r>
              <a:rPr lang="en-US" sz="2400" dirty="0"/>
              <a:t>. WAW (Write After Write):Two instructions write to the same destination in the wrong order.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What are Data </a:t>
            </a:r>
            <a:r>
              <a:rPr lang="en-US" sz="3600" dirty="0" smtClean="0"/>
              <a:t>Hazards?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69143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81328"/>
            <a:ext cx="8534400" cy="49194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Forwarding(Data </a:t>
            </a:r>
            <a:r>
              <a:rPr lang="en-US" dirty="0"/>
              <a:t>Bypassing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Concept:</a:t>
            </a:r>
          </a:p>
          <a:p>
            <a:pPr marL="109728" indent="0">
              <a:buNone/>
            </a:pPr>
            <a:r>
              <a:rPr lang="en-US" dirty="0" smtClean="0"/>
              <a:t>Instead </a:t>
            </a:r>
            <a:r>
              <a:rPr lang="en-US" dirty="0"/>
              <a:t>of waiting for a result to be written back to the register file, we forward (pass) the result directly from one pipeline stage to another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pPr marL="109728" indent="0">
              <a:buNone/>
            </a:pPr>
            <a:r>
              <a:rPr lang="en-US" dirty="0" smtClean="0"/>
              <a:t>If </a:t>
            </a:r>
            <a:r>
              <a:rPr lang="en-US" dirty="0"/>
              <a:t>Instruction 1 produces a result in the EX stage, and Instruction 2 needs it in the next EX stage — we pass it directly from Instruction 1’s EX stage to Instruction 2’s </a:t>
            </a:r>
            <a:r>
              <a:rPr lang="en-US" dirty="0" smtClean="0"/>
              <a:t>EX stage.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Solutions for Data </a:t>
            </a:r>
            <a:r>
              <a:rPr lang="en-US" dirty="0" smtClean="0"/>
              <a:t>Hazards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21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600" dirty="0" smtClean="0"/>
              <a:t>Reduces stalls</a:t>
            </a:r>
          </a:p>
          <a:p>
            <a:pPr>
              <a:buFont typeface="Wingdings" pitchFamily="2" charset="2"/>
              <a:buChar char="v"/>
            </a:pPr>
            <a:r>
              <a:rPr lang="en-US" sz="2600" dirty="0" smtClean="0"/>
              <a:t>Speeds </a:t>
            </a:r>
            <a:r>
              <a:rPr lang="en-US" sz="2600" dirty="0"/>
              <a:t>up </a:t>
            </a:r>
            <a:r>
              <a:rPr lang="en-US" sz="2600" dirty="0" smtClean="0"/>
              <a:t>pipeline</a:t>
            </a:r>
          </a:p>
          <a:p>
            <a:pPr>
              <a:buFont typeface="Wingdings" pitchFamily="2" charset="2"/>
              <a:buChar char="v"/>
            </a:pPr>
            <a:r>
              <a:rPr lang="en-US" sz="2600" dirty="0" smtClean="0"/>
              <a:t>Diagrammatically: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Instruction </a:t>
            </a:r>
            <a:r>
              <a:rPr lang="en-US" sz="2200" dirty="0"/>
              <a:t>1: </a:t>
            </a:r>
            <a:endParaRPr lang="en-US" sz="2200" dirty="0" smtClean="0"/>
          </a:p>
          <a:p>
            <a:pPr marL="109728" indent="0">
              <a:buNone/>
            </a:pPr>
            <a:r>
              <a:rPr lang="en-US" sz="2200" dirty="0" smtClean="0"/>
              <a:t>EX </a:t>
            </a:r>
            <a:r>
              <a:rPr lang="en-US" sz="2200" dirty="0"/>
              <a:t>→ MEM → </a:t>
            </a:r>
            <a:r>
              <a:rPr lang="en-US" sz="2200" dirty="0" smtClean="0"/>
              <a:t>WB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Instruction 2:</a:t>
            </a:r>
          </a:p>
          <a:p>
            <a:pPr marL="109728" indent="0">
              <a:buNone/>
            </a:pPr>
            <a:r>
              <a:rPr lang="en-US" sz="2200" dirty="0" smtClean="0"/>
              <a:t>EX </a:t>
            </a:r>
            <a:r>
              <a:rPr lang="en-US" sz="2200" dirty="0"/>
              <a:t>(gets result from Instruction 1's EX </a:t>
            </a:r>
            <a:r>
              <a:rPr lang="en-US" sz="2200" dirty="0" smtClean="0"/>
              <a:t>stage)</a:t>
            </a:r>
          </a:p>
          <a:p>
            <a:pPr>
              <a:buFont typeface="Courier New" pitchFamily="49" charset="0"/>
              <a:buChar char="o"/>
            </a:pPr>
            <a:r>
              <a:rPr lang="en-US" sz="2200" dirty="0" smtClean="0"/>
              <a:t>2</a:t>
            </a:r>
            <a:r>
              <a:rPr lang="en-US" sz="2200" dirty="0"/>
              <a:t>. </a:t>
            </a:r>
            <a:r>
              <a:rPr lang="en-US" sz="2200" dirty="0" smtClean="0"/>
              <a:t>Stalling </a:t>
            </a:r>
            <a:r>
              <a:rPr lang="en-US" sz="2200" dirty="0"/>
              <a:t>(Pipeline Stall / Bubble</a:t>
            </a:r>
            <a:r>
              <a:rPr lang="en-US" sz="2200" dirty="0" smtClean="0"/>
              <a:t>):</a:t>
            </a:r>
          </a:p>
          <a:p>
            <a:pPr marL="109728" indent="0">
              <a:buNone/>
            </a:pPr>
            <a:r>
              <a:rPr lang="en-US" sz="2200" dirty="0" smtClean="0"/>
              <a:t>If </a:t>
            </a:r>
            <a:r>
              <a:rPr lang="en-US" sz="2200" dirty="0"/>
              <a:t>forwarding isn't possible (for example, if the data isn't yet available), the processor pauses the pipeline for a cycle or two (inserts a 'bubble') until data is ready</a:t>
            </a:r>
            <a:r>
              <a:rPr lang="en-US" sz="2200" dirty="0" smtClean="0"/>
              <a:t>.</a:t>
            </a:r>
          </a:p>
          <a:p>
            <a:pPr>
              <a:buFont typeface="Courier New" pitchFamily="49" charset="0"/>
              <a:buChar char="o"/>
            </a:pPr>
            <a:r>
              <a:rPr lang="en-US" sz="2200" dirty="0" smtClean="0"/>
              <a:t>How </a:t>
            </a:r>
            <a:r>
              <a:rPr lang="en-US" sz="2200" dirty="0"/>
              <a:t>it works</a:t>
            </a:r>
            <a:r>
              <a:rPr lang="en-US" sz="2200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Control </a:t>
            </a:r>
            <a:r>
              <a:rPr lang="en-US" sz="2200" dirty="0"/>
              <a:t>logic detects the </a:t>
            </a:r>
            <a:r>
              <a:rPr lang="en-US" sz="2200" dirty="0" smtClean="0"/>
              <a:t>hazard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Inserts </a:t>
            </a:r>
            <a:r>
              <a:rPr lang="en-US" sz="2200" dirty="0"/>
              <a:t>a NOP (No Operation) </a:t>
            </a:r>
            <a:r>
              <a:rPr lang="en-US" sz="2200" dirty="0" smtClean="0"/>
              <a:t>instruction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Resumes </a:t>
            </a:r>
            <a:r>
              <a:rPr lang="en-US" sz="2200" dirty="0"/>
              <a:t>execution when data </a:t>
            </a:r>
            <a:r>
              <a:rPr lang="en-US" sz="2200" dirty="0" smtClean="0"/>
              <a:t>is ready.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Advantage: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45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Slows </a:t>
            </a:r>
            <a:r>
              <a:rPr lang="en-US" dirty="0"/>
              <a:t>down the pipeline (wastes cycles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 Quick Example:</a:t>
            </a:r>
          </a:p>
          <a:p>
            <a:pPr marL="109728" indent="0">
              <a:buNone/>
            </a:pPr>
            <a:r>
              <a:rPr lang="en-US" dirty="0" smtClean="0"/>
              <a:t>ADD </a:t>
            </a:r>
            <a:r>
              <a:rPr lang="en-US" dirty="0"/>
              <a:t>R1, R2, R3   // R1 = R2 + </a:t>
            </a:r>
            <a:r>
              <a:rPr lang="en-US" dirty="0" smtClean="0"/>
              <a:t>R3</a:t>
            </a:r>
          </a:p>
          <a:p>
            <a:pPr marL="109728" indent="0">
              <a:buNone/>
            </a:pPr>
            <a:r>
              <a:rPr lang="en-US" dirty="0" smtClean="0"/>
              <a:t>SUB </a:t>
            </a:r>
            <a:r>
              <a:rPr lang="en-US" dirty="0"/>
              <a:t>R4, R1, R5   // Needs R1 </a:t>
            </a:r>
            <a:r>
              <a:rPr lang="en-US" dirty="0" smtClean="0"/>
              <a:t>immediately</a:t>
            </a:r>
          </a:p>
          <a:p>
            <a:pPr marL="109728" indent="0">
              <a:buNone/>
            </a:pPr>
            <a:r>
              <a:rPr lang="en-US" dirty="0" smtClean="0"/>
              <a:t>Without </a:t>
            </a:r>
            <a:r>
              <a:rPr lang="en-US" dirty="0"/>
              <a:t>Forwarding → </a:t>
            </a:r>
            <a:r>
              <a:rPr lang="en-US" dirty="0" smtClean="0"/>
              <a:t>stall</a:t>
            </a:r>
          </a:p>
          <a:p>
            <a:pPr marL="109728" indent="0">
              <a:buNone/>
            </a:pPr>
            <a:r>
              <a:rPr lang="en-US" dirty="0" smtClean="0"/>
              <a:t>With </a:t>
            </a:r>
            <a:r>
              <a:rPr lang="en-US" dirty="0"/>
              <a:t>Forwarding → pass result directly from ADD to SUB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Disadvantage:</a:t>
            </a:r>
          </a:p>
        </p:txBody>
      </p:sp>
    </p:spTree>
    <p:extLst>
      <p:ext uri="{BB962C8B-B14F-4D97-AF65-F5344CB8AC3E}">
        <p14:creationId xmlns:p14="http://schemas.microsoft.com/office/powerpoint/2010/main" val="244847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52600"/>
            <a:ext cx="4343400" cy="1829761"/>
          </a:xfrm>
        </p:spPr>
        <p:txBody>
          <a:bodyPr/>
          <a:lstStyle/>
          <a:p>
            <a:r>
              <a:rPr lang="en-US" sz="6600" dirty="0" smtClean="0"/>
              <a:t>THANKS</a:t>
            </a:r>
            <a:r>
              <a:rPr lang="en-US" dirty="0" smtClean="0"/>
              <a:t>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5593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104</TotalTime>
  <Words>1086</Words>
  <Application>Microsoft Office PowerPoint</Application>
  <PresentationFormat>On-screen Show (4:3)</PresentationFormat>
  <Paragraphs>127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Concourse</vt:lpstr>
      <vt:lpstr>Intermediate CPU and Data Flow</vt:lpstr>
      <vt:lpstr>Group members:</vt:lpstr>
      <vt:lpstr>Intermediate CPU and Data Flow:</vt:lpstr>
      <vt:lpstr>CPU Data Flow (Intermediate Level) </vt:lpstr>
      <vt:lpstr>Memory address translation: </vt:lpstr>
      <vt:lpstr>PowerPoint Presentation</vt:lpstr>
      <vt:lpstr>Register Transfer Language (RTL):</vt:lpstr>
      <vt:lpstr>Common Special Registers: </vt:lpstr>
      <vt:lpstr>PowerPoint Presentation</vt:lpstr>
      <vt:lpstr>What are Data Hazards?</vt:lpstr>
      <vt:lpstr>Solutions for Data Hazards</vt:lpstr>
      <vt:lpstr> Advantage: </vt:lpstr>
      <vt:lpstr>Disadvantage:</vt:lpstr>
      <vt:lpstr>THANKS    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CPU and Data Flow</dc:title>
  <dc:creator>Windows User</dc:creator>
  <cp:lastModifiedBy>Windows User</cp:lastModifiedBy>
  <cp:revision>11</cp:revision>
  <dcterms:created xsi:type="dcterms:W3CDTF">2025-04-27T12:49:45Z</dcterms:created>
  <dcterms:modified xsi:type="dcterms:W3CDTF">2025-04-27T17:19:38Z</dcterms:modified>
</cp:coreProperties>
</file>